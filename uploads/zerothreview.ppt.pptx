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3" r:id="rId1"/>
  </p:sldMasterIdLst>
  <p:sldIdLst>
    <p:sldId id="256" r:id="rId2"/>
    <p:sldId id="257" r:id="rId3"/>
    <p:sldId id="259" r:id="rId4"/>
    <p:sldId id="260" r:id="rId5"/>
    <p:sldId id="261" r:id="rId6"/>
    <p:sldId id="263"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29FE78-B0F4-42CF-A4C6-7594EDAFCDAC}"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40235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29FE78-B0F4-42CF-A4C6-7594EDAFCDAC}"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124310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29FE78-B0F4-42CF-A4C6-7594EDAFCDAC}"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236800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549524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29FE78-B0F4-42CF-A4C6-7594EDAFCDAC}" type="datetimeFigureOut">
              <a:rPr lang="en-IN" smtClean="0"/>
              <a:t>07-02-2026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2763418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29FE78-B0F4-42CF-A4C6-7594EDAFCDAC}" type="datetimeFigureOut">
              <a:rPr lang="en-IN" smtClean="0"/>
              <a:t>07-02-2026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125784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329FE78-B0F4-42CF-A4C6-7594EDAFCDAC}" type="datetimeFigureOut">
              <a:rPr lang="en-IN" smtClean="0"/>
              <a:t>07-02-2026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1724217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2572686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71073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1805472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1060898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4414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29FE78-B0F4-42CF-A4C6-7594EDAFCDAC}" type="datetimeFigureOut">
              <a:rPr lang="en-IN" smtClean="0"/>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001300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329FE78-B0F4-42CF-A4C6-7594EDAFCDAC}" type="datetimeFigureOut">
              <a:rPr lang="en-IN" smtClean="0"/>
              <a:t>07-02-2026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2561726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329FE78-B0F4-42CF-A4C6-7594EDAFCDAC}" type="datetimeFigureOut">
              <a:rPr lang="en-IN" smtClean="0"/>
              <a:t>07-02-2026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396102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29FE78-B0F4-42CF-A4C6-7594EDAFCDAC}"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40378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29FE78-B0F4-42CF-A4C6-7594EDAFCDAC}"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42347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29FE78-B0F4-42CF-A4C6-7594EDAFCDAC}" type="datetimeFigureOut">
              <a:rPr lang="en-IN" smtClean="0"/>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DF680C-F975-4219-9883-1CF146685178}" type="slidenum">
              <a:rPr lang="en-IN" smtClean="0"/>
              <a:t>‹#›</a:t>
            </a:fld>
            <a:endParaRPr lang="en-IN"/>
          </a:p>
        </p:txBody>
      </p:sp>
    </p:spTree>
    <p:extLst>
      <p:ext uri="{BB962C8B-B14F-4D97-AF65-F5344CB8AC3E}">
        <p14:creationId xmlns:p14="http://schemas.microsoft.com/office/powerpoint/2010/main" val="370330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329FE78-B0F4-42CF-A4C6-7594EDAFCDAC}" type="datetimeFigureOut">
              <a:rPr lang="en-IN" smtClean="0"/>
              <a:t>07-02-2026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3DF680C-F975-4219-9883-1CF146685178}" type="slidenum">
              <a:rPr lang="en-IN" smtClean="0"/>
              <a:t>‹#›</a:t>
            </a:fld>
            <a:endParaRPr lang="en-IN"/>
          </a:p>
        </p:txBody>
      </p:sp>
    </p:spTree>
    <p:extLst>
      <p:ext uri="{BB962C8B-B14F-4D97-AF65-F5344CB8AC3E}">
        <p14:creationId xmlns:p14="http://schemas.microsoft.com/office/powerpoint/2010/main" val="4273688948"/>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5" r:id="rId12"/>
    <p:sldLayoutId id="2147484046" r:id="rId13"/>
    <p:sldLayoutId id="2147484047" r:id="rId14"/>
    <p:sldLayoutId id="2147484048" r:id="rId15"/>
    <p:sldLayoutId id="2147484049" r:id="rId16"/>
    <p:sldLayoutId id="2147484050" r:id="rId17"/>
    <p:sldLayoutId id="21474840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8AEB2B-1FB8-147B-CACC-9679C82CBA3B}"/>
              </a:ext>
            </a:extLst>
          </p:cNvPr>
          <p:cNvSpPr>
            <a:spLocks noGrp="1"/>
          </p:cNvSpPr>
          <p:nvPr>
            <p:ph type="title"/>
          </p:nvPr>
        </p:nvSpPr>
        <p:spPr>
          <a:xfrm>
            <a:off x="989348" y="1219200"/>
            <a:ext cx="10364452" cy="471488"/>
          </a:xfrm>
        </p:spPr>
        <p:txBody>
          <a:bodyPr>
            <a:noAutofit/>
          </a:bodyPr>
          <a:lstStyle/>
          <a:p>
            <a:pPr algn="ctr"/>
            <a:r>
              <a:rPr lang="en-US" sz="1800">
                <a:solidFill>
                  <a:srgbClr val="0070C0"/>
                </a:solidFill>
              </a:rPr>
              <a:t>BAPATLA WOMENS ENGINEERING COLLEGE</a:t>
            </a:r>
            <a:br>
              <a:rPr lang="en-US" sz="1800">
                <a:solidFill>
                  <a:srgbClr val="0070C0"/>
                </a:solidFill>
              </a:rPr>
            </a:br>
            <a:r>
              <a:rPr lang="en-US" sz="1800">
                <a:solidFill>
                  <a:srgbClr val="0070C0"/>
                </a:solidFill>
              </a:rPr>
              <a:t>   BAPATLA-522101</a:t>
            </a:r>
            <a:r>
              <a:rPr lang="en-US" sz="1800">
                <a:solidFill>
                  <a:schemeClr val="accent4">
                    <a:lumMod val="75000"/>
                  </a:schemeClr>
                </a:solidFill>
              </a:rPr>
              <a:t>,</a:t>
            </a:r>
            <a:r>
              <a:rPr lang="en-US" sz="1800">
                <a:ln w="0"/>
                <a:solidFill>
                  <a:srgbClr val="0070C0"/>
                </a:solidFill>
                <a:effectLst>
                  <a:outerShdw blurRad="38100" dist="19050" dir="2700000" algn="tl" rotWithShape="0">
                    <a:schemeClr val="dk1">
                      <a:alpha val="40000"/>
                    </a:schemeClr>
                  </a:outerShdw>
                </a:effectLst>
              </a:rPr>
              <a:t>BAPATLA</a:t>
            </a:r>
            <a:r>
              <a:rPr lang="en-US" sz="1800">
                <a:solidFill>
                  <a:srgbClr val="0070C0"/>
                </a:solidFill>
              </a:rPr>
              <a:t>(Dt),A.P</a:t>
            </a:r>
            <a:br>
              <a:rPr lang="en-US" sz="1800">
                <a:solidFill>
                  <a:srgbClr val="0070C0"/>
                </a:solidFill>
              </a:rPr>
            </a:br>
            <a:r>
              <a:rPr lang="en-US" sz="1800">
                <a:solidFill>
                  <a:srgbClr val="0070C0"/>
                </a:solidFill>
              </a:rPr>
              <a:t>(Sponsered by Bapatla Education Society)</a:t>
            </a:r>
            <a:br>
              <a:rPr lang="en-US" sz="1800">
                <a:solidFill>
                  <a:srgbClr val="0070C0"/>
                </a:solidFill>
              </a:rPr>
            </a:br>
            <a:r>
              <a:rPr lang="en-US" sz="1800">
                <a:solidFill>
                  <a:srgbClr val="0070C0"/>
                </a:solidFill>
              </a:rPr>
              <a:t>Approved by AICTE-New Delhi,Affiliated to Acharya Nagarjuna University</a:t>
            </a:r>
            <a:br>
              <a:rPr lang="en-US" sz="1800">
                <a:solidFill>
                  <a:srgbClr val="0070C0"/>
                </a:solidFill>
              </a:rPr>
            </a:br>
            <a:r>
              <a:rPr lang="en-US" sz="1800">
                <a:solidFill>
                  <a:srgbClr val="0070C0"/>
                </a:solidFill>
              </a:rPr>
              <a:t>An ISO 9001:2015 Certified Institution</a:t>
            </a:r>
            <a:br>
              <a:rPr lang="en-US" sz="1800">
                <a:solidFill>
                  <a:srgbClr val="0070C0"/>
                </a:solidFill>
              </a:rPr>
            </a:br>
            <a:r>
              <a:rPr lang="en-US" sz="1800" b="1">
                <a:solidFill>
                  <a:srgbClr val="0070C0"/>
                </a:solidFill>
              </a:rPr>
              <a:t>DEPARTMENT OF COMPUTER SCIENCE AND ENGINEERING(CSE)</a:t>
            </a:r>
            <a:br>
              <a:rPr lang="en-IN" sz="1800">
                <a:solidFill>
                  <a:srgbClr val="0070C0"/>
                </a:solidFill>
              </a:rPr>
            </a:br>
            <a:endParaRPr lang="en-IN" sz="1800"/>
          </a:p>
        </p:txBody>
      </p:sp>
      <p:sp>
        <p:nvSpPr>
          <p:cNvPr id="5" name="Content Placeholder 4">
            <a:extLst>
              <a:ext uri="{FF2B5EF4-FFF2-40B4-BE49-F238E27FC236}">
                <a16:creationId xmlns:a16="http://schemas.microsoft.com/office/drawing/2014/main" id="{D65BB372-0D20-E45B-08D4-F4A9B8228584}"/>
              </a:ext>
            </a:extLst>
          </p:cNvPr>
          <p:cNvSpPr>
            <a:spLocks noGrp="1"/>
          </p:cNvSpPr>
          <p:nvPr>
            <p:ph idx="1"/>
          </p:nvPr>
        </p:nvSpPr>
        <p:spPr>
          <a:xfrm>
            <a:off x="580104" y="2367093"/>
            <a:ext cx="11169444" cy="4289346"/>
          </a:xfrm>
        </p:spPr>
        <p:txBody>
          <a:bodyPr>
            <a:normAutofit fontScale="25000" lnSpcReduction="20000"/>
          </a:bodyPr>
          <a:lstStyle/>
          <a:p>
            <a:endParaRPr lang="en-IN"/>
          </a:p>
          <a:p>
            <a:endParaRPr lang="en-IN"/>
          </a:p>
          <a:p>
            <a:pPr marL="0" indent="0" algn="ctr">
              <a:buNone/>
            </a:pPr>
            <a:r>
              <a:rPr lang="en-IN" sz="5000">
                <a:latin typeface="Times New Roman" panose="02020603050405020304" pitchFamily="18" charset="0"/>
                <a:cs typeface="Times New Roman" panose="02020603050405020304" pitchFamily="18" charset="0"/>
              </a:rPr>
              <a:t> </a:t>
            </a:r>
            <a:r>
              <a:rPr lang="en-IN" sz="8000" b="1">
                <a:latin typeface="Times New Roman" panose="02020603050405020304" pitchFamily="18" charset="0"/>
                <a:cs typeface="Times New Roman" panose="02020603050405020304" pitchFamily="18" charset="0"/>
              </a:rPr>
              <a:t>AI-enhanced Offline Notes Tutor With Intelligent Difficulty Heatmap</a:t>
            </a:r>
          </a:p>
          <a:p>
            <a:pPr marL="0" indent="0" algn="ctr">
              <a:buNone/>
            </a:pPr>
            <a:r>
              <a:rPr lang="en-IN" sz="8000" b="1">
                <a:solidFill>
                  <a:schemeClr val="tx1">
                    <a:lumMod val="95000"/>
                    <a:lumOff val="5000"/>
                  </a:schemeClr>
                </a:solidFill>
                <a:latin typeface="Times New Roman" panose="02020603050405020304" pitchFamily="18" charset="0"/>
                <a:cs typeface="Times New Roman" panose="02020603050405020304" pitchFamily="18" charset="0"/>
              </a:rPr>
              <a:t>Batch-7</a:t>
            </a:r>
          </a:p>
          <a:p>
            <a:pPr marL="0" indent="0">
              <a:buNone/>
            </a:pPr>
            <a:endParaRPr lang="en-IN" sz="5000">
              <a:latin typeface="Times New Roman" panose="02020603050405020304" pitchFamily="18" charset="0"/>
              <a:cs typeface="Times New Roman" panose="02020603050405020304" pitchFamily="18" charset="0"/>
            </a:endParaRPr>
          </a:p>
          <a:p>
            <a:pPr marL="0" indent="0">
              <a:buNone/>
            </a:pPr>
            <a:endParaRPr lang="en-IN" sz="5000">
              <a:latin typeface="Times New Roman" panose="02020603050405020304" pitchFamily="18" charset="0"/>
              <a:cs typeface="Times New Roman" panose="02020603050405020304" pitchFamily="18" charset="0"/>
            </a:endParaRPr>
          </a:p>
          <a:p>
            <a:pPr marL="0" indent="0">
              <a:buNone/>
            </a:pPr>
            <a:r>
              <a:rPr lang="en-IN" sz="5000" b="1">
                <a:latin typeface="Times New Roman" panose="02020603050405020304" pitchFamily="18" charset="0"/>
                <a:cs typeface="Times New Roman" panose="02020603050405020304" pitchFamily="18" charset="0"/>
              </a:rPr>
              <a:t> </a:t>
            </a:r>
          </a:p>
          <a:p>
            <a:pPr marL="0" indent="0">
              <a:buNone/>
            </a:pPr>
            <a:r>
              <a:rPr lang="en-IN" sz="6400" b="1">
                <a:latin typeface="Times New Roman" panose="02020603050405020304" pitchFamily="18" charset="0"/>
                <a:cs typeface="Times New Roman" panose="02020603050405020304" pitchFamily="18" charset="0"/>
              </a:rPr>
              <a:t> UNDER THE GUIDENCE OF:                                                                                     PRESENTED BY:</a:t>
            </a:r>
          </a:p>
          <a:p>
            <a:pPr marL="0" indent="0">
              <a:buNone/>
            </a:pPr>
            <a:r>
              <a:rPr lang="en-IN" sz="6400">
                <a:latin typeface="Times New Roman" panose="02020603050405020304" pitchFamily="18" charset="0"/>
                <a:cs typeface="Times New Roman" panose="02020603050405020304" pitchFamily="18" charset="0"/>
              </a:rPr>
              <a:t> SHABANA KHANUM, M.Tech                                                                                    I.MOHANA NAGA SINDHUJA(Y22CS2651)</a:t>
            </a:r>
          </a:p>
          <a:p>
            <a:pPr marL="0" indent="0">
              <a:buNone/>
            </a:pPr>
            <a:r>
              <a:rPr lang="en-IN" sz="6400">
                <a:latin typeface="Times New Roman" panose="02020603050405020304" pitchFamily="18" charset="0"/>
                <a:cs typeface="Times New Roman" panose="02020603050405020304" pitchFamily="18" charset="0"/>
              </a:rPr>
              <a:t> Asst.Prof,CSE Dept                                                                                                    G.KEERTHI(Y22CS2644)</a:t>
            </a:r>
          </a:p>
          <a:p>
            <a:pPr marL="0" indent="0">
              <a:buNone/>
            </a:pPr>
            <a:r>
              <a:rPr lang="en-IN" sz="6400">
                <a:latin typeface="Times New Roman" panose="02020603050405020304" pitchFamily="18" charset="0"/>
                <a:cs typeface="Times New Roman" panose="02020603050405020304" pitchFamily="18" charset="0"/>
              </a:rPr>
              <a:t>                                                                                                                                            G.NANDINI(Y22CS2638)</a:t>
            </a:r>
          </a:p>
        </p:txBody>
      </p:sp>
      <p:pic>
        <p:nvPicPr>
          <p:cNvPr id="6" name="Picture 5">
            <a:extLst>
              <a:ext uri="{FF2B5EF4-FFF2-40B4-BE49-F238E27FC236}">
                <a16:creationId xmlns:a16="http://schemas.microsoft.com/office/drawing/2014/main" id="{D481CBB2-565C-A069-0DA5-5452D06EB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252" y="433608"/>
            <a:ext cx="1545996" cy="1375365"/>
          </a:xfrm>
          <a:prstGeom prst="rect">
            <a:avLst/>
          </a:prstGeom>
        </p:spPr>
      </p:pic>
      <p:pic>
        <p:nvPicPr>
          <p:cNvPr id="7" name="Picture 2" descr="College of Education, Nagaon">
            <a:extLst>
              <a:ext uri="{FF2B5EF4-FFF2-40B4-BE49-F238E27FC236}">
                <a16:creationId xmlns:a16="http://schemas.microsoft.com/office/drawing/2014/main" id="{06A71022-EF3A-DB3A-8084-A77D061CCE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9877" y="325342"/>
            <a:ext cx="1788299" cy="1482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38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ACDE-060E-B0D6-AF3D-3AECE9910557}"/>
              </a:ext>
            </a:extLst>
          </p:cNvPr>
          <p:cNvSpPr>
            <a:spLocks noGrp="1"/>
          </p:cNvSpPr>
          <p:nvPr>
            <p:ph type="title"/>
          </p:nvPr>
        </p:nvSpPr>
        <p:spPr>
          <a:xfrm>
            <a:off x="913775" y="618517"/>
            <a:ext cx="10364451" cy="974309"/>
          </a:xfrm>
        </p:spPr>
        <p:txBody>
          <a:bodyPr>
            <a:normAutofit/>
          </a:bodyPr>
          <a:lstStyle/>
          <a:p>
            <a:pPr algn="ctr"/>
            <a:r>
              <a:rPr lang="en-IN" sz="2400" b="1">
                <a:latin typeface="Times New Roman" panose="02020603050405020304" pitchFamily="18" charset="0"/>
                <a:cs typeface="Times New Roman" panose="02020603050405020304" pitchFamily="18" charset="0"/>
              </a:rPr>
              <a:t>LITERATURE SURVEY</a:t>
            </a:r>
          </a:p>
        </p:txBody>
      </p:sp>
      <p:graphicFrame>
        <p:nvGraphicFramePr>
          <p:cNvPr id="7" name="Content Placeholder 6">
            <a:extLst>
              <a:ext uri="{FF2B5EF4-FFF2-40B4-BE49-F238E27FC236}">
                <a16:creationId xmlns:a16="http://schemas.microsoft.com/office/drawing/2014/main" id="{6F956BC0-C6D4-40F8-34B9-8347B36847B3}"/>
              </a:ext>
            </a:extLst>
          </p:cNvPr>
          <p:cNvGraphicFramePr>
            <a:graphicFrameLocks noGrp="1"/>
          </p:cNvGraphicFramePr>
          <p:nvPr>
            <p:ph idx="1"/>
            <p:extLst>
              <p:ext uri="{D42A27DB-BD31-4B8C-83A1-F6EECF244321}">
                <p14:modId xmlns:p14="http://schemas.microsoft.com/office/powerpoint/2010/main" val="598129420"/>
              </p:ext>
            </p:extLst>
          </p:nvPr>
        </p:nvGraphicFramePr>
        <p:xfrm>
          <a:off x="884903" y="1809135"/>
          <a:ext cx="10070689" cy="4396188"/>
        </p:xfrm>
        <a:graphic>
          <a:graphicData uri="http://schemas.openxmlformats.org/drawingml/2006/table">
            <a:tbl>
              <a:tblPr firstRow="1" bandRow="1">
                <a:tableStyleId>{073A0DAA-6AF3-43AB-8588-CEC1D06C72B9}</a:tableStyleId>
              </a:tblPr>
              <a:tblGrid>
                <a:gridCol w="3421626">
                  <a:extLst>
                    <a:ext uri="{9D8B030D-6E8A-4147-A177-3AD203B41FA5}">
                      <a16:colId xmlns:a16="http://schemas.microsoft.com/office/drawing/2014/main" val="3604006609"/>
                    </a:ext>
                  </a:extLst>
                </a:gridCol>
                <a:gridCol w="4277032">
                  <a:extLst>
                    <a:ext uri="{9D8B030D-6E8A-4147-A177-3AD203B41FA5}">
                      <a16:colId xmlns:a16="http://schemas.microsoft.com/office/drawing/2014/main" val="2321848612"/>
                    </a:ext>
                  </a:extLst>
                </a:gridCol>
                <a:gridCol w="2372031">
                  <a:extLst>
                    <a:ext uri="{9D8B030D-6E8A-4147-A177-3AD203B41FA5}">
                      <a16:colId xmlns:a16="http://schemas.microsoft.com/office/drawing/2014/main" val="1183036506"/>
                    </a:ext>
                  </a:extLst>
                </a:gridCol>
              </a:tblGrid>
              <a:tr h="580104">
                <a:tc>
                  <a:txBody>
                    <a:bodyPr/>
                    <a:lstStyle/>
                    <a:p>
                      <a:pPr algn="ctr"/>
                      <a:r>
                        <a:rPr lang="en-IN" sz="2000"/>
                        <a:t>Title       </a:t>
                      </a:r>
                      <a:endParaRPr lang="en-IN" sz="2000">
                        <a:latin typeface="Times New Roman" panose="02020603050405020304" pitchFamily="18" charset="0"/>
                        <a:cs typeface="Times New Roman" panose="02020603050405020304" pitchFamily="18" charset="0"/>
                      </a:endParaRPr>
                    </a:p>
                  </a:txBody>
                  <a:tcPr/>
                </a:tc>
                <a:tc>
                  <a:txBody>
                    <a:bodyPr/>
                    <a:lstStyle/>
                    <a:p>
                      <a:pPr algn="ctr"/>
                      <a:r>
                        <a:rPr lang="en-IN" sz="2000"/>
                        <a:t>Author</a:t>
                      </a:r>
                      <a:endParaRPr lang="en-IN" sz="2000">
                        <a:latin typeface="Times New Roman" panose="02020603050405020304" pitchFamily="18" charset="0"/>
                        <a:cs typeface="Times New Roman" panose="02020603050405020304" pitchFamily="18" charset="0"/>
                      </a:endParaRPr>
                    </a:p>
                  </a:txBody>
                  <a:tcPr/>
                </a:tc>
                <a:tc>
                  <a:txBody>
                    <a:bodyPr/>
                    <a:lstStyle/>
                    <a:p>
                      <a:pPr algn="ctr"/>
                      <a:r>
                        <a:rPr lang="en-IN" sz="2000"/>
                        <a:t>Year</a:t>
                      </a:r>
                      <a:endParaRPr lang="en-IN"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9432628"/>
                  </a:ext>
                </a:extLst>
              </a:tr>
              <a:tr h="936748">
                <a:tc>
                  <a:txBody>
                    <a:bodyPr/>
                    <a:lstStyle/>
                    <a:p>
                      <a:r>
                        <a:rPr lang="en-IN" sz="2000">
                          <a:latin typeface="Times New Roman" panose="02020603050405020304" pitchFamily="18" charset="0"/>
                          <a:cs typeface="Times New Roman" panose="02020603050405020304" pitchFamily="18" charset="0"/>
                        </a:rPr>
                        <a:t>AI in Intelligent Tutoring Systems</a:t>
                      </a:r>
                    </a:p>
                  </a:txBody>
                  <a:tcPr/>
                </a:tc>
                <a:tc>
                  <a:txBody>
                    <a:bodyPr/>
                    <a:lstStyle/>
                    <a:p>
                      <a:r>
                        <a:rPr lang="en-IN" sz="2000">
                          <a:latin typeface="Times New Roman" panose="02020603050405020304" pitchFamily="18" charset="0"/>
                          <a:cs typeface="Times New Roman" panose="02020603050405020304" pitchFamily="18" charset="0"/>
                        </a:rPr>
                        <a:t> Abdul AL-Emran</a:t>
                      </a:r>
                    </a:p>
                  </a:txBody>
                  <a:tcPr/>
                </a:tc>
                <a:tc>
                  <a:txBody>
                    <a:bodyPr/>
                    <a:lstStyle/>
                    <a:p>
                      <a:pPr algn="ctr"/>
                      <a:r>
                        <a:rPr lang="en-IN" sz="2000">
                          <a:latin typeface="Times New Roman" panose="02020603050405020304" pitchFamily="18" charset="0"/>
                          <a:cs typeface="Times New Roman" panose="02020603050405020304" pitchFamily="18" charset="0"/>
                        </a:rPr>
                        <a:t>2023</a:t>
                      </a:r>
                    </a:p>
                  </a:txBody>
                  <a:tcPr/>
                </a:tc>
                <a:extLst>
                  <a:ext uri="{0D108BD9-81ED-4DB2-BD59-A6C34878D82A}">
                    <a16:rowId xmlns:a16="http://schemas.microsoft.com/office/drawing/2014/main" val="1067462394"/>
                  </a:ext>
                </a:extLst>
              </a:tr>
              <a:tr h="936748">
                <a:tc>
                  <a:txBody>
                    <a:bodyPr/>
                    <a:lstStyle/>
                    <a:p>
                      <a:r>
                        <a:rPr lang="en-IN" sz="2000">
                          <a:latin typeface="Times New Roman" panose="02020603050405020304" pitchFamily="18" charset="0"/>
                          <a:cs typeface="Times New Roman" panose="02020603050405020304" pitchFamily="18" charset="0"/>
                        </a:rPr>
                        <a:t>Adaptive AI Tutor Using KG-RAG</a:t>
                      </a:r>
                    </a:p>
                  </a:txBody>
                  <a:tcPr/>
                </a:tc>
                <a:tc>
                  <a:txBody>
                    <a:bodyPr/>
                    <a:lstStyle/>
                    <a:p>
                      <a:r>
                        <a:rPr lang="en-IN" sz="2000">
                          <a:latin typeface="Times New Roman" panose="02020603050405020304" pitchFamily="18" charset="0"/>
                          <a:cs typeface="Times New Roman" panose="02020603050405020304" pitchFamily="18" charset="0"/>
                        </a:rPr>
                        <a:t>Chenxi Dong</a:t>
                      </a:r>
                    </a:p>
                  </a:txBody>
                  <a:tcPr/>
                </a:tc>
                <a:tc>
                  <a:txBody>
                    <a:bodyPr/>
                    <a:lstStyle/>
                    <a:p>
                      <a:pPr algn="ctr"/>
                      <a:r>
                        <a:rPr lang="en-IN" sz="2000">
                          <a:latin typeface="Times New Roman" panose="02020603050405020304" pitchFamily="18" charset="0"/>
                          <a:cs typeface="Times New Roman" panose="02020603050405020304" pitchFamily="18" charset="0"/>
                        </a:rPr>
                        <a:t>2023</a:t>
                      </a:r>
                    </a:p>
                  </a:txBody>
                  <a:tcPr/>
                </a:tc>
                <a:extLst>
                  <a:ext uri="{0D108BD9-81ED-4DB2-BD59-A6C34878D82A}">
                    <a16:rowId xmlns:a16="http://schemas.microsoft.com/office/drawing/2014/main" val="1652592114"/>
                  </a:ext>
                </a:extLst>
              </a:tr>
              <a:tr h="9367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Visualization of Intelligent Tutor Interactions</a:t>
                      </a:r>
                    </a:p>
                    <a:p>
                      <a:endParaRPr lang="en-IN" sz="200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latin typeface="Times New Roman" panose="02020603050405020304" pitchFamily="18" charset="0"/>
                          <a:cs typeface="Times New Roman" panose="02020603050405020304" pitchFamily="18" charset="0"/>
                        </a:rPr>
                        <a:t>Yifan Guo</a:t>
                      </a:r>
                    </a:p>
                    <a:p>
                      <a:endParaRPr lang="en-IN" sz="2000">
                        <a:latin typeface="Times New Roman" panose="02020603050405020304" pitchFamily="18" charset="0"/>
                        <a:cs typeface="Times New Roman" panose="02020603050405020304" pitchFamily="18" charset="0"/>
                      </a:endParaRPr>
                    </a:p>
                  </a:txBody>
                  <a:tcPr/>
                </a:tc>
                <a:tc>
                  <a:txBody>
                    <a:bodyPr/>
                    <a:lstStyle/>
                    <a:p>
                      <a:pPr algn="ctr"/>
                      <a:r>
                        <a:rPr lang="en-IN" sz="2000">
                          <a:latin typeface="Times New Roman" panose="02020603050405020304" pitchFamily="18" charset="0"/>
                          <a:cs typeface="Times New Roman" panose="02020603050405020304" pitchFamily="18" charset="0"/>
                        </a:rPr>
                        <a:t>2024</a:t>
                      </a:r>
                    </a:p>
                  </a:txBody>
                  <a:tcPr/>
                </a:tc>
                <a:extLst>
                  <a:ext uri="{0D108BD9-81ED-4DB2-BD59-A6C34878D82A}">
                    <a16:rowId xmlns:a16="http://schemas.microsoft.com/office/drawing/2014/main" val="2094130320"/>
                  </a:ext>
                </a:extLst>
              </a:tr>
              <a:tr h="936748">
                <a:tc>
                  <a:txBody>
                    <a:bodyPr/>
                    <a:lstStyle/>
                    <a:p>
                      <a:r>
                        <a:rPr lang="en-IN" sz="2000">
                          <a:latin typeface="Times New Roman" panose="02020603050405020304" pitchFamily="18" charset="0"/>
                          <a:cs typeface="Times New Roman" panose="02020603050405020304" pitchFamily="18" charset="0"/>
                        </a:rPr>
                        <a:t>Personalized Learning with Intelligent Tutors</a:t>
                      </a:r>
                    </a:p>
                  </a:txBody>
                  <a:tcPr/>
                </a:tc>
                <a:tc>
                  <a:txBody>
                    <a:bodyPr/>
                    <a:lstStyle/>
                    <a:p>
                      <a:r>
                        <a:rPr lang="en-IN" sz="2000">
                          <a:latin typeface="Times New Roman" panose="02020603050405020304" pitchFamily="18" charset="0"/>
                          <a:cs typeface="Times New Roman" panose="02020603050405020304" pitchFamily="18" charset="0"/>
                        </a:rPr>
                        <a:t>IGI Global</a:t>
                      </a:r>
                    </a:p>
                  </a:txBody>
                  <a:tcPr/>
                </a:tc>
                <a:tc>
                  <a:txBody>
                    <a:bodyPr/>
                    <a:lstStyle/>
                    <a:p>
                      <a:pPr algn="ctr"/>
                      <a:r>
                        <a:rPr lang="en-IN" sz="2000">
                          <a:latin typeface="Times New Roman" panose="02020603050405020304" pitchFamily="18" charset="0"/>
                          <a:cs typeface="Times New Roman" panose="02020603050405020304" pitchFamily="18" charset="0"/>
                        </a:rPr>
                        <a:t>2025</a:t>
                      </a:r>
                    </a:p>
                  </a:txBody>
                  <a:tcPr/>
                </a:tc>
                <a:extLst>
                  <a:ext uri="{0D108BD9-81ED-4DB2-BD59-A6C34878D82A}">
                    <a16:rowId xmlns:a16="http://schemas.microsoft.com/office/drawing/2014/main" val="3138112341"/>
                  </a:ext>
                </a:extLst>
              </a:tr>
            </a:tbl>
          </a:graphicData>
        </a:graphic>
      </p:graphicFrame>
    </p:spTree>
    <p:extLst>
      <p:ext uri="{BB962C8B-B14F-4D97-AF65-F5344CB8AC3E}">
        <p14:creationId xmlns:p14="http://schemas.microsoft.com/office/powerpoint/2010/main" val="3415629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1ACA2-1BDB-E5AA-1700-01235B975D88}"/>
              </a:ext>
            </a:extLst>
          </p:cNvPr>
          <p:cNvSpPr>
            <a:spLocks noGrp="1"/>
          </p:cNvSpPr>
          <p:nvPr>
            <p:ph type="title"/>
          </p:nvPr>
        </p:nvSpPr>
        <p:spPr/>
        <p:txBody>
          <a:bodyPr>
            <a:normAutofit/>
          </a:bodyPr>
          <a:lstStyle/>
          <a:p>
            <a:pPr algn="ctr"/>
            <a:r>
              <a:rPr lang="en-IN" sz="2400" b="1">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D3B06713-2D07-5885-BB34-249AC7551621}"/>
              </a:ext>
            </a:extLst>
          </p:cNvPr>
          <p:cNvSpPr>
            <a:spLocks noGrp="1"/>
          </p:cNvSpPr>
          <p:nvPr>
            <p:ph idx="1"/>
          </p:nvPr>
        </p:nvSpPr>
        <p:spPr>
          <a:xfrm>
            <a:off x="1012723" y="1825625"/>
            <a:ext cx="10341077" cy="4351338"/>
          </a:xfrm>
        </p:spPr>
        <p:txBody>
          <a:bodyPr>
            <a:normAutofit/>
          </a:bodyPr>
          <a:lstStyle/>
          <a:p>
            <a:pPr marL="0" indent="0" algn="just">
              <a:lnSpc>
                <a:spcPct val="150000"/>
              </a:lnSpc>
              <a:buNone/>
            </a:pPr>
            <a:r>
              <a:rPr lang="en-US" cap="none">
                <a:latin typeface="Times New Roman" panose="02020603050405020304" pitchFamily="18" charset="0"/>
                <a:cs typeface="Times New Roman" panose="02020603050405020304" pitchFamily="18" charset="0"/>
              </a:rPr>
              <a:t>This project develops an ai-based offline notes tutor that uses NLP to analyze pdfs, calculate topic difficulty, and display an intelligent color-coded heatmap to highlight challenging areas. It works completely offline to minimize distractions, improve focus, and support efficient, targeted revision.</a:t>
            </a:r>
          </a:p>
          <a:p>
            <a:pPr marL="0" indent="0" algn="just">
              <a:lnSpc>
                <a:spcPct val="150000"/>
              </a:lnSpc>
              <a:buNone/>
            </a:pPr>
            <a:endParaRPr lang="en-IN" sz="2000" cap="non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6598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5BBBD-AA7B-0B47-9EE1-ABEF249BF865}"/>
              </a:ext>
            </a:extLst>
          </p:cNvPr>
          <p:cNvSpPr>
            <a:spLocks noGrp="1"/>
          </p:cNvSpPr>
          <p:nvPr>
            <p:ph type="title"/>
          </p:nvPr>
        </p:nvSpPr>
        <p:spPr>
          <a:xfrm>
            <a:off x="913775" y="618518"/>
            <a:ext cx="10364451" cy="1013638"/>
          </a:xfrm>
        </p:spPr>
        <p:txBody>
          <a:bodyPr>
            <a:normAutofit/>
          </a:bodyPr>
          <a:lstStyle/>
          <a:p>
            <a:pPr algn="ctr"/>
            <a:r>
              <a:rPr lang="en-IN" sz="2400" b="1">
                <a:latin typeface="Times New Roman" panose="02020603050405020304" pitchFamily="18" charset="0"/>
                <a:cs typeface="Times New Roman" panose="02020603050405020304" pitchFamily="18" charset="0"/>
              </a:rPr>
              <a:t>EXSITING SYSTEM</a:t>
            </a:r>
          </a:p>
        </p:txBody>
      </p:sp>
      <p:sp>
        <p:nvSpPr>
          <p:cNvPr id="3" name="Content Placeholder 2">
            <a:extLst>
              <a:ext uri="{FF2B5EF4-FFF2-40B4-BE49-F238E27FC236}">
                <a16:creationId xmlns:a16="http://schemas.microsoft.com/office/drawing/2014/main" id="{CF346E05-F328-D069-5F18-0B5A761D3750}"/>
              </a:ext>
            </a:extLst>
          </p:cNvPr>
          <p:cNvSpPr>
            <a:spLocks noGrp="1"/>
          </p:cNvSpPr>
          <p:nvPr>
            <p:ph idx="1"/>
          </p:nvPr>
        </p:nvSpPr>
        <p:spPr>
          <a:xfrm>
            <a:off x="820994" y="1543665"/>
            <a:ext cx="10515600" cy="4475981"/>
          </a:xfrm>
        </p:spPr>
        <p:txBody>
          <a:bodyPr>
            <a:normAutofit/>
          </a:bodyPr>
          <a:lstStyle/>
          <a:p>
            <a:pPr marL="0" indent="0" algn="just">
              <a:lnSpc>
                <a:spcPct val="150000"/>
              </a:lnSpc>
              <a:buNone/>
            </a:pPr>
            <a:r>
              <a:rPr lang="en-US" sz="2000" cap="none">
                <a:latin typeface="Times New Roman" panose="02020603050405020304" pitchFamily="18" charset="0"/>
                <a:cs typeface="Times New Roman" panose="02020603050405020304" pitchFamily="18" charset="0"/>
              </a:rPr>
              <a:t>Existing systems are mostly online-based and rely on quizzes to estimate topic difficulty. They track student performance but do not analyze offline PDF notes. There is no intelligent difficulty heatmap to visually highlight hard topics.</a:t>
            </a:r>
          </a:p>
          <a:p>
            <a:pPr marL="0" indent="0" algn="just">
              <a:lnSpc>
                <a:spcPct val="150000"/>
              </a:lnSpc>
              <a:buNone/>
            </a:pPr>
            <a:r>
              <a:rPr lang="en-US" sz="2400" b="1" cap="none">
                <a:latin typeface="Times New Roman" panose="02020603050405020304" pitchFamily="18" charset="0"/>
                <a:cs typeface="Times New Roman" panose="02020603050405020304" pitchFamily="18" charset="0"/>
              </a:rPr>
              <a:t>Disadvantages</a:t>
            </a:r>
          </a:p>
          <a:p>
            <a:pPr algn="just">
              <a:lnSpc>
                <a:spcPct val="150000"/>
              </a:lnSpc>
            </a:pPr>
            <a:r>
              <a:rPr lang="en-US" cap="none">
                <a:latin typeface="Times New Roman" panose="02020603050405020304" pitchFamily="18" charset="0"/>
                <a:cs typeface="Times New Roman" panose="02020603050405020304" pitchFamily="18" charset="0"/>
              </a:rPr>
              <a:t>No difficulty-level identification.</a:t>
            </a:r>
          </a:p>
          <a:p>
            <a:pPr algn="just">
              <a:lnSpc>
                <a:spcPct val="150000"/>
              </a:lnSpc>
            </a:pPr>
            <a:r>
              <a:rPr lang="en-US" cap="none">
                <a:latin typeface="Times New Roman" panose="02020603050405020304" pitchFamily="18" charset="0"/>
                <a:cs typeface="Times New Roman" panose="02020603050405020304" pitchFamily="18" charset="0"/>
              </a:rPr>
              <a:t> Time-consuming revision process.</a:t>
            </a:r>
          </a:p>
          <a:p>
            <a:pPr algn="just">
              <a:lnSpc>
                <a:spcPct val="150000"/>
              </a:lnSpc>
            </a:pPr>
            <a:r>
              <a:rPr lang="en-US" cap="none">
                <a:latin typeface="Times New Roman" panose="02020603050405020304" pitchFamily="18" charset="0"/>
                <a:cs typeface="Times New Roman" panose="02020603050405020304" pitchFamily="18" charset="0"/>
              </a:rPr>
              <a:t> No offline platforms.</a:t>
            </a:r>
            <a:endParaRPr lang="en-IN" cap="non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76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39F58-0306-EC06-A78A-7C1DDD3A8403}"/>
              </a:ext>
            </a:extLst>
          </p:cNvPr>
          <p:cNvSpPr>
            <a:spLocks noGrp="1"/>
          </p:cNvSpPr>
          <p:nvPr>
            <p:ph type="title"/>
          </p:nvPr>
        </p:nvSpPr>
        <p:spPr>
          <a:xfrm>
            <a:off x="838200" y="560438"/>
            <a:ext cx="10515600" cy="875072"/>
          </a:xfrm>
        </p:spPr>
        <p:txBody>
          <a:bodyPr>
            <a:normAutofit/>
          </a:bodyPr>
          <a:lstStyle/>
          <a:p>
            <a:pPr algn="ctr"/>
            <a:r>
              <a:rPr lang="en-IN" sz="2400" b="1">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CE5BA621-0C9B-163E-B9A5-F6A75F658A0D}"/>
              </a:ext>
            </a:extLst>
          </p:cNvPr>
          <p:cNvSpPr>
            <a:spLocks noGrp="1"/>
          </p:cNvSpPr>
          <p:nvPr>
            <p:ph idx="1"/>
          </p:nvPr>
        </p:nvSpPr>
        <p:spPr>
          <a:xfrm>
            <a:off x="838200" y="1435510"/>
            <a:ext cx="10515600" cy="4741453"/>
          </a:xfrm>
        </p:spPr>
        <p:txBody>
          <a:bodyPr>
            <a:normAutofit/>
          </a:bodyPr>
          <a:lstStyle/>
          <a:p>
            <a:pPr marL="0" indent="0" algn="just">
              <a:lnSpc>
                <a:spcPct val="150000"/>
              </a:lnSpc>
              <a:buNone/>
            </a:pPr>
            <a:r>
              <a:rPr lang="en-US" sz="2000" cap="none">
                <a:latin typeface="Times New Roman" panose="02020603050405020304" pitchFamily="18" charset="0"/>
                <a:cs typeface="Times New Roman" panose="02020603050405020304" pitchFamily="18" charset="0"/>
              </a:rPr>
              <a:t>The system uses AI to analyze offline PDF notes and study documents. It identifies important and difficult topics automatically. An intelligent difficulty heatmap highlights hard sections and provides personalized study guidance.</a:t>
            </a:r>
          </a:p>
          <a:p>
            <a:pPr marL="0" indent="0" algn="just">
              <a:lnSpc>
                <a:spcPct val="150000"/>
              </a:lnSpc>
              <a:buNone/>
            </a:pPr>
            <a:r>
              <a:rPr lang="en-US" sz="2400" b="1" cap="none">
                <a:latin typeface="Times New Roman" panose="02020603050405020304" pitchFamily="18" charset="0"/>
                <a:cs typeface="Times New Roman" panose="02020603050405020304" pitchFamily="18" charset="0"/>
              </a:rPr>
              <a:t>Advantages</a:t>
            </a:r>
          </a:p>
          <a:p>
            <a:pPr algn="just">
              <a:lnSpc>
                <a:spcPct val="150000"/>
              </a:lnSpc>
            </a:pPr>
            <a:r>
              <a:rPr lang="en-US" sz="2000" cap="none">
                <a:latin typeface="Times New Roman" panose="02020603050405020304" pitchFamily="18" charset="0"/>
                <a:cs typeface="Times New Roman" panose="02020603050405020304" pitchFamily="18" charset="0"/>
              </a:rPr>
              <a:t>Intelligent topic difficulty identification</a:t>
            </a:r>
          </a:p>
          <a:p>
            <a:pPr algn="just">
              <a:lnSpc>
                <a:spcPct val="150000"/>
              </a:lnSpc>
            </a:pPr>
            <a:r>
              <a:rPr lang="en-US" sz="2000" cap="none">
                <a:latin typeface="Times New Roman" panose="02020603050405020304" pitchFamily="18" charset="0"/>
                <a:cs typeface="Times New Roman" panose="02020603050405020304" pitchFamily="18" charset="0"/>
              </a:rPr>
              <a:t> Offline accessibility and privacy</a:t>
            </a:r>
          </a:p>
          <a:p>
            <a:pPr algn="just">
              <a:lnSpc>
                <a:spcPct val="150000"/>
              </a:lnSpc>
            </a:pPr>
            <a:r>
              <a:rPr lang="en-US" sz="2000" cap="none">
                <a:latin typeface="Times New Roman" panose="02020603050405020304" pitchFamily="18" charset="0"/>
                <a:cs typeface="Times New Roman" panose="02020603050405020304" pitchFamily="18" charset="0"/>
              </a:rPr>
              <a:t> Faster and focused revision</a:t>
            </a:r>
          </a:p>
          <a:p>
            <a:pPr algn="just">
              <a:lnSpc>
                <a:spcPct val="150000"/>
              </a:lnSpc>
            </a:pPr>
            <a:r>
              <a:rPr lang="en-US" sz="2000" cap="none">
                <a:latin typeface="Times New Roman" panose="02020603050405020304" pitchFamily="18" charset="0"/>
                <a:cs typeface="Times New Roman" panose="02020603050405020304" pitchFamily="18" charset="0"/>
              </a:rPr>
              <a:t> Improved learning effectiveness</a:t>
            </a:r>
            <a:endParaRPr lang="en-IN" sz="2000" cap="non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42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FB018-EC2F-413B-E26A-1A8A67491576}"/>
              </a:ext>
            </a:extLst>
          </p:cNvPr>
          <p:cNvSpPr>
            <a:spLocks noGrp="1"/>
          </p:cNvSpPr>
          <p:nvPr>
            <p:ph idx="1"/>
          </p:nvPr>
        </p:nvSpPr>
        <p:spPr/>
        <p:txBody>
          <a:bodyPr>
            <a:normAutofit/>
          </a:bodyPr>
          <a:lstStyle/>
          <a:p>
            <a:pPr marL="0" indent="0" algn="ctr">
              <a:buNone/>
            </a:pPr>
            <a:r>
              <a:rPr lang="en-IN" sz="5400">
                <a:solidFill>
                  <a:schemeClr val="bg2">
                    <a:lumMod val="75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33481224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325</TotalTime>
  <Words>305</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Times New Roman</vt:lpstr>
      <vt:lpstr>Tw Cen MT</vt:lpstr>
      <vt:lpstr>Droplet</vt:lpstr>
      <vt:lpstr>BAPATLA WOMENS ENGINEERING COLLEGE    BAPATLA-522101,BAPATLA(Dt),A.P (Sponsered by Bapatla Education Society) Approved by AICTE-New Delhi,Affiliated to Acharya Nagarjuna University An ISO 9001:2015 Certified Institution DEPARTMENT OF COMPUTER SCIENCE AND ENGINEERING(CSE) </vt:lpstr>
      <vt:lpstr>LITERATURE SURVEY</vt:lpstr>
      <vt:lpstr>ABSTRACT</vt:lpstr>
      <vt:lpstr>EXSITING SYSTEM</vt:lpstr>
      <vt:lpstr>PROPOSED SYSTEM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Keerthi</dc:creator>
  <cp:lastModifiedBy>G. Keerthi</cp:lastModifiedBy>
  <cp:revision>18</cp:revision>
  <dcterms:created xsi:type="dcterms:W3CDTF">2026-02-03T04:51:09Z</dcterms:created>
  <dcterms:modified xsi:type="dcterms:W3CDTF">2026-02-07T03:49:31Z</dcterms:modified>
</cp:coreProperties>
</file>